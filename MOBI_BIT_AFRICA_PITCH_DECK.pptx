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FF41"/>
                </a:solidFill>
              </a:defRPr>
            </a:pPr>
            <a:r>
              <a:t>🔐 MOBI BIT AFRICA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Banking the Unbanked, One Sat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Lightning-Powered Bitcoin Virtual Card for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D700"/>
                </a:solidFill>
              </a:defRPr>
            </a:pPr>
            <a:r>
              <a:t>• 60% of Africans are unbanked, yet 80% have mobile phones</a:t>
            </a:r>
          </a:p>
          <a:p>
            <a:pPr>
              <a:spcAft>
                <a:spcPts val="800"/>
              </a:spcAft>
              <a:defRPr sz="1800">
                <a:solidFill>
                  <a:srgbClr val="FFD700"/>
                </a:solidFill>
              </a:defRPr>
            </a:pPr>
            <a:r>
              <a:t>• Convert mobile money → Bitcoin → Spend anywhere</a:t>
            </a:r>
          </a:p>
          <a:p>
            <a:pPr>
              <a:spcAft>
                <a:spcPts val="800"/>
              </a:spcAft>
              <a:defRPr sz="1800">
                <a:solidFill>
                  <a:srgbClr val="FFD700"/>
                </a:solidFill>
              </a:defRPr>
            </a:pPr>
            <a:r>
              <a:t>• Lightning Network + Mobile Money APIs + Virtual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Presented by: Mobi Bit Africa Team |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FF41"/>
                </a:solidFill>
              </a:defRPr>
            </a:pPr>
            <a:r>
              <a:t>🌍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Africa faces five critical barriers to Bitcoin adoption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20116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FF0000"/>
                </a:solidFill>
              </a:defRPr>
            </a:pPr>
            <a:r>
              <a:t>🔒 Limited Access</a:t>
            </a:r>
          </a:p>
          <a:p>
            <a:pPr algn="l">
              <a:defRPr sz="1100">
                <a:solidFill>
                  <a:srgbClr val="FFFFFF"/>
                </a:solidFill>
              </a:defRPr>
            </a:pPr>
            <a:r>
              <a:t>Many Africans cannot access Bitcoin because traditional platforms require bank accounts, complicated verification, or technical knowledge.</a:t>
            </a:r>
            <a:br/>
            <a:br/>
            <a:r>
              <a:t>60% of adults in Sub-Saharan Africa are unbanked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474720" cy="20116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FF0000"/>
                </a:solidFill>
              </a:defRPr>
            </a:pPr>
            <a:r>
              <a:t>🏦 Financial Exclusion</a:t>
            </a:r>
          </a:p>
          <a:p>
            <a:pPr algn="l">
              <a:defRPr sz="1100">
                <a:solidFill>
                  <a:srgbClr val="FFFFFF"/>
                </a:solidFill>
              </a:defRPr>
            </a:pPr>
            <a:r>
              <a:t>Millions rely on mobile money rather than traditional banks. No bank account = no Bitcoin access.</a:t>
            </a:r>
            <a:br/>
            <a:br/>
            <a:r>
              <a:t>Only 23% of adults have a bank account in Africa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828800"/>
            <a:ext cx="3474720" cy="20116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💸 Expensive Transfers</a:t>
            </a:r>
          </a:p>
          <a:p>
            <a:pPr algn="l">
              <a:defRPr sz="1100">
                <a:solidFill>
                  <a:srgbClr val="FFFFFF"/>
                </a:solidFill>
              </a:defRPr>
            </a:pPr>
            <a:r>
              <a:t>Sending money across borders is slow and costly. Traditional remittance fees average 8-9%.</a:t>
            </a:r>
            <a:br/>
            <a:br/>
            <a:r>
              <a:t>Africans pay $4B+ annually in remittance fees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4114800"/>
            <a:ext cx="3474720" cy="20116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💳 Can't Spend Bitcoin</a:t>
            </a:r>
          </a:p>
          <a:p>
            <a:pPr algn="l">
              <a:defRPr sz="1100">
                <a:solidFill>
                  <a:srgbClr val="FFFFFF"/>
                </a:solidFill>
              </a:defRPr>
            </a:pPr>
            <a:r>
              <a:t>Owning Bitcoin isn't the same as using it. No way to spend at local shops or online.</a:t>
            </a:r>
            <a:br/>
            <a:br/>
            <a:r>
              <a:t>95% of transactions are still cash-based in Africa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114800"/>
            <a:ext cx="3474720" cy="20116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600" b="1">
                <a:solidFill>
                  <a:srgbClr val="FF9900"/>
                </a:solidFill>
              </a:defRPr>
            </a:pPr>
            <a:r>
              <a:t>⚙️ Too Complex</a:t>
            </a:r>
          </a:p>
          <a:p>
            <a:pPr algn="l">
              <a:defRPr sz="1100">
                <a:solidFill>
                  <a:srgbClr val="FFFFFF"/>
                </a:solidFill>
              </a:defRPr>
            </a:pPr>
            <a:r>
              <a:t>Bitcoin and Lightning are confusing for ordinary users. Technical barriers prevent adoption.</a:t>
            </a:r>
            <a:br/>
            <a:br/>
            <a:r>
              <a:t>Only 3% of Africans have ever used cryptocurrency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FF41"/>
                </a:solidFill>
              </a:defRPr>
            </a:pPr>
            <a:r>
              <a:t>✅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Making Bitcoin as simple as mobile money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474720" cy="32004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400" b="1">
                <a:solidFill>
                  <a:srgbClr val="00FF41"/>
                </a:solidFill>
              </a:defRPr>
            </a:pPr>
            <a:r>
              <a:t>💰 Deposit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Fund your card via:</a:t>
            </a:r>
            <a:br/>
            <a:r>
              <a:t>• MTN MoMo</a:t>
            </a:r>
            <a:br/>
            <a:r>
              <a:t>• Airtel Money</a:t>
            </a:r>
            <a:br/>
            <a:r>
              <a:t>• Orange Money</a:t>
            </a:r>
            <a:br/>
            <a:br/>
            <a:r>
              <a:t>Just like topping up your phone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11680"/>
            <a:ext cx="3474720" cy="32004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400" b="1">
                <a:solidFill>
                  <a:srgbClr val="61DAFB"/>
                </a:solidFill>
              </a:defRPr>
            </a:pPr>
            <a:r>
              <a:t>⚡ Convert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Fiat is converted to BTC via the Lightning Network:</a:t>
            </a:r>
            <a:br/>
            <a:r>
              <a:t>• Instant transactions</a:t>
            </a:r>
            <a:br/>
            <a:r>
              <a:t>• Near-zero fees</a:t>
            </a:r>
            <a:br/>
            <a:r>
              <a:t>• No bank required</a:t>
            </a:r>
            <a:br/>
            <a:r>
              <a:t>• Secure and private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11680"/>
            <a:ext cx="3474720" cy="32004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💳 Spend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Use your virtual card anywhere cards are accepted:</a:t>
            </a:r>
            <a:br/>
            <a:r>
              <a:t>• Online shopping</a:t>
            </a:r>
            <a:br/>
            <a:r>
              <a:t>• In-store payments</a:t>
            </a:r>
            <a:br/>
            <a:r>
              <a:t>• International purchases</a:t>
            </a:r>
            <a:br/>
            <a:r>
              <a:t>• Real-time conversion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🎯 Key Differentiators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852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❌ Requires Bank Account → ✅ No Bank Needed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❌ Complex Setup → ✅ Simple as Mobile Money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❌ High Fees → ✅ Near-Zero Fees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❌ Slow Transfers → ✅ Instant Lightning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❌ Can't Spend Bitcoin → ✅ Virtual Card Anywhere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FF41"/>
                </a:solidFill>
              </a:defRPr>
            </a:pPr>
            <a:r>
              <a:t>🏗️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Secure, fast, and simple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029200" cy="41148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00FF41"/>
                </a:solidFill>
              </a:defRPr>
            </a:pPr>
            <a:r>
              <a:t>🔧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Frontend: React 18, Vite 5, Tailwind CSS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Backend: Python, FastAPI, SQLAlchemy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Database: PostgreSQL, Redis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Lightning: LND, Polar Network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Mobile Money: MTN, Airtel, Orange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Security: JWT, CORS, Rate Limiting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2011680"/>
            <a:ext cx="5760720" cy="41148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FF0000"/>
                </a:solidFill>
              </a:defRPr>
            </a:pPr>
            <a:r>
              <a:t>🛡️ Security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5603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FF41"/>
                </a:solidFill>
              </a:defRPr>
            </a:pPr>
            <a:r>
              <a:t>• [✓] Encrypted Auth (JWT)</a:t>
            </a:r>
          </a:p>
          <a:p>
            <a:pPr>
              <a:spcAft>
                <a:spcPts val="800"/>
              </a:spcAft>
              <a:defRPr sz="1400">
                <a:solidFill>
                  <a:srgbClr val="00FF41"/>
                </a:solidFill>
              </a:defRPr>
            </a:pPr>
            <a:r>
              <a:t>• [✓] Input Validation</a:t>
            </a:r>
          </a:p>
          <a:p>
            <a:pPr>
              <a:spcAft>
                <a:spcPts val="800"/>
              </a:spcAft>
              <a:defRPr sz="1400">
                <a:solidFill>
                  <a:srgbClr val="00FF41"/>
                </a:solidFill>
              </a:defRPr>
            </a:pPr>
            <a:r>
              <a:t>• [✓] SQL Injection Proof</a:t>
            </a:r>
          </a:p>
          <a:p>
            <a:pPr>
              <a:spcAft>
                <a:spcPts val="800"/>
              </a:spcAft>
              <a:defRPr sz="1400">
                <a:solidFill>
                  <a:srgbClr val="00FF41"/>
                </a:solidFill>
              </a:defRPr>
            </a:pPr>
            <a:r>
              <a:t>• [✓] Rate Limiting</a:t>
            </a:r>
          </a:p>
          <a:p>
            <a:pPr>
              <a:spcAft>
                <a:spcPts val="800"/>
              </a:spcAft>
              <a:defRPr sz="1400">
                <a:solidFill>
                  <a:srgbClr val="00FF41"/>
                </a:solidFill>
              </a:defRPr>
            </a:pPr>
            <a:r>
              <a:t>• [✓] API Key Security</a:t>
            </a:r>
          </a:p>
          <a:p>
            <a:pPr>
              <a:spcAft>
                <a:spcPts val="800"/>
              </a:spcAft>
              <a:defRPr sz="1400">
                <a:solidFill>
                  <a:srgbClr val="00FF41"/>
                </a:solidFill>
              </a:defRPr>
            </a:pPr>
            <a:r>
              <a:t>• [✓] CORS Protection</a:t>
            </a:r>
          </a:p>
          <a:p>
            <a:pPr>
              <a:spcAft>
                <a:spcPts val="800"/>
              </a:spcAft>
              <a:defRPr sz="1400">
                <a:solidFill>
                  <a:srgbClr val="00FF41"/>
                </a:solidFill>
              </a:defRPr>
            </a:pPr>
            <a:r>
              <a:t>• [✓] Audit Logging</a:t>
            </a:r>
          </a:p>
          <a:p>
            <a:pPr>
              <a:spcAft>
                <a:spcPts val="800"/>
              </a:spcAft>
              <a:defRPr sz="1400">
                <a:solidFill>
                  <a:srgbClr val="00FF41"/>
                </a:solidFill>
              </a:defRPr>
            </a:pPr>
            <a:r>
              <a:t>• [✓] Secure 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00"/>
                </a:solidFill>
              </a:defRPr>
            </a:pPr>
            <a:r>
              <a:t>Mobile Money → Backend → Lightning Network → 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FF41"/>
                </a:solidFill>
              </a:defRPr>
            </a:pPr>
            <a:r>
              <a:t>🚀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Building the future of African finance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029200" cy="27432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📈 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Mobile Money Users (Africa): 600M+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Unbanked Adults (Africa): 350M+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Annual Remittance Fees: $4B+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Crypto Adoption Growth: 120% YoY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Target Market: $50B+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2011680"/>
            <a:ext cx="5760720" cy="27432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000" b="1">
                <a:solidFill>
                  <a:srgbClr val="00FF41"/>
                </a:solidFill>
              </a:defRPr>
            </a:pPr>
            <a:r>
              <a:t>🎯 Traction &amp;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5603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[✓] Frontend (13 pages)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[✓] Backend API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[✓] Lightning Integration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[✓] Mobile Money (3 providers)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[✓] Docker Deployment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[✓] Security Audit Passed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[🔄] Production Launch: Q4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029200"/>
            <a:ext cx="8229600" cy="13716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00FF41"/>
                </a:solidFill>
              </a:defRPr>
            </a:pPr>
            <a:r>
              <a:t>💡 Why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3035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1. Mobile money is EVERYWHERE in Africa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2. Lightning Network makes Bitcoin instant &amp; cheap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3. Bitcoin adoption is accelerating globally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4. No one has connected mobile money → Bitcoin yet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5. We have the team, the tech, and the timing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